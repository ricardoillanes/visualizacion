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06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122E"/>
            </a:gs>
            <a:gs pos="55000">
              <a:srgbClr val="272C7A"/>
            </a:gs>
            <a:gs pos="100000">
              <a:srgbClr val="4450D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eco 22"/>
          <p:cNvSpPr/>
          <p:nvPr/>
        </p:nvSpPr>
        <p:spPr>
          <a:xfrm>
            <a:off x="-762000" y="-254000"/>
            <a:ext cx="2921000" cy="190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4A5BF0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" name="Deco 23"/>
          <p:cNvSpPr/>
          <p:nvPr/>
        </p:nvSpPr>
        <p:spPr>
          <a:xfrm>
            <a:off x="-254000" y="508000"/>
            <a:ext cx="2413000" cy="3048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3" name="Deco 24"/>
          <p:cNvSpPr/>
          <p:nvPr/>
        </p:nvSpPr>
        <p:spPr>
          <a:xfrm>
            <a:off x="-1016000" y="3683000"/>
            <a:ext cx="2286000" cy="2286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" name="Deco 25"/>
          <p:cNvSpPr/>
          <p:nvPr/>
        </p:nvSpPr>
        <p:spPr>
          <a:xfrm>
            <a:off x="10541000" y="2032000"/>
            <a:ext cx="2159000" cy="2032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4552D6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" name="Deco 26"/>
          <p:cNvSpPr/>
          <p:nvPr/>
        </p:nvSpPr>
        <p:spPr>
          <a:xfrm>
            <a:off x="9271000" y="4191000"/>
            <a:ext cx="3810000" cy="3048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4E60F0"/>
              </a:gs>
              <a:gs pos="100000">
                <a:srgbClr val="2F379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6" name="Deco 27"/>
          <p:cNvSpPr/>
          <p:nvPr/>
        </p:nvSpPr>
        <p:spPr>
          <a:xfrm>
            <a:off x="10795000" y="5080000"/>
            <a:ext cx="2032000" cy="2159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8"/>
          <p:cNvSpPr txBox="1"/>
          <p:nvPr/>
        </p:nvSpPr>
        <p:spPr>
          <a:xfrm>
            <a:off x="2032000" y="165100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800" b="1" spc="300" dirty="0">
                <a:solidFill>
                  <a:srgbClr val="FFFFFF"/>
                </a:solidFill>
                <a:latin typeface="Segoe UI"/>
              </a:rPr>
              <a:t>STREAMVIEW ANALYTICS</a:t>
            </a:r>
          </a:p>
        </p:txBody>
      </p:sp>
      <p:sp>
        <p:nvSpPr>
          <p:cNvPr id="28" name="Text 29"/>
          <p:cNvSpPr txBox="1"/>
          <p:nvPr/>
        </p:nvSpPr>
        <p:spPr>
          <a:xfrm>
            <a:off x="1524000" y="2222500"/>
            <a:ext cx="9144000" cy="139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5000" b="1" dirty="0">
                <a:solidFill>
                  <a:srgbClr val="FFFFFF"/>
                </a:solidFill>
                <a:latin typeface="Segoe UI"/>
              </a:rPr>
              <a:t>Del diagnóstico a la acción</a:t>
            </a:r>
          </a:p>
        </p:txBody>
      </p:sp>
      <p:sp>
        <p:nvSpPr>
          <p:cNvPr id="20" name="Pill"/>
          <p:cNvSpPr/>
          <p:nvPr/>
        </p:nvSpPr>
        <p:spPr>
          <a:xfrm>
            <a:off x="3175000" y="3810000"/>
            <a:ext cx="5842000" cy="558800"/>
          </a:xfrm>
          <a:prstGeom prst="roundRect">
            <a:avLst>
              <a:gd name="adj" fmla="val 50000"/>
            </a:avLst>
          </a:prstGeom>
          <a:solidFill>
            <a:srgbClr val="4557E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s-ES" sz="1500" b="1" spc="100" dirty="0">
                <a:solidFill>
                  <a:srgbClr val="FFFFFF"/>
                </a:solidFill>
                <a:latin typeface="Segoe UI"/>
              </a:rPr>
              <a:t>RETENCIÓN DE SUSCRIPCIONES</a:t>
            </a:r>
          </a:p>
        </p:txBody>
      </p:sp>
      <p:sp>
        <p:nvSpPr>
          <p:cNvPr id="29" name="Text 30"/>
          <p:cNvSpPr txBox="1"/>
          <p:nvPr/>
        </p:nvSpPr>
        <p:spPr>
          <a:xfrm>
            <a:off x="2032000" y="4724400"/>
            <a:ext cx="8128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600" b="1" dirty="0">
                <a:solidFill>
                  <a:srgbClr val="FFFFFF"/>
                </a:solidFill>
                <a:latin typeface="Segoe UI"/>
              </a:rPr>
              <a:t>Marvin Francisconi  ·  Ricardo Illanes</a:t>
            </a:r>
          </a:p>
        </p:txBody>
      </p:sp>
      <p:sp>
        <p:nvSpPr>
          <p:cNvPr id="30" name="Text 31"/>
          <p:cNvSpPr txBox="1"/>
          <p:nvPr/>
        </p:nvSpPr>
        <p:spPr>
          <a:xfrm>
            <a:off x="2032000" y="5080000"/>
            <a:ext cx="8128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400" b="0" dirty="0">
                <a:solidFill>
                  <a:srgbClr val="DDE1FF"/>
                </a:solidFill>
                <a:latin typeface="Segoe UI"/>
              </a:rPr>
              <a:t>Visualización de Datos (ADY1104)  ·  Evaluación Parcial N°1</a:t>
            </a:r>
          </a:p>
        </p:txBody>
      </p:sp>
    </p:spTree>
    <p:extLst>
      <p:ext uri="{BB962C8B-B14F-4D97-AF65-F5344CB8AC3E}">
        <p14:creationId xmlns:p14="http://schemas.microsoft.com/office/powerpoint/2010/main" val="419589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1. PROBLEMA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Casi 3 de cada 10 suscripciones terminan canceladas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A4E6E"/>
                </a:solidFill>
                <a:latin typeface="Segoe UI"/>
              </a:rPr>
              <a:t>StreamView necesita comprender qué patrones se asocian a la permanencia o cancelación de sus suscripciones, para orientar decisiones de retención y experiencia del cliente.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063240"/>
            <a:ext cx="10515600" cy="1234440"/>
          </a:xfrm>
          <a:prstGeom prst="rect">
            <a:avLst/>
          </a:prstGeom>
          <a:solidFill>
            <a:srgbClr val="E1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Pregunta de análisis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84448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52"/>
                </a:solidFill>
                <a:latin typeface="Segoe UI"/>
              </a:rPr>
              <a:t>¿Qué patrones de usuarios, suscripciones y consumo se relacionan con la permanencia o cancelación?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F52"/>
                </a:solidFill>
                <a:latin typeface="Segoe UI"/>
              </a:rPr>
              <a:t>1.500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760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Suscripciones analizadas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7091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23B3B"/>
                </a:solidFill>
                <a:latin typeface="Segoe UI"/>
              </a:rPr>
              <a:t>27,7%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2760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Tasa de cancelación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7091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23B3B"/>
                </a:solidFill>
                <a:latin typeface="Segoe UI"/>
              </a:rPr>
              <a:t>415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52760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Suscripciones perdidas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7091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3F4FE0"/>
                </a:solidFill>
                <a:latin typeface="Segoe UI"/>
              </a:rPr>
              <a:t>US$ 3.551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2760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Ingreso mensual perdido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9167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2. AUDIENCIA Y PROPÓSITO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A quién le hablamos y qué debe poder decidir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600" b="1">
                <a:solidFill>
                  <a:srgbClr val="1C1F52"/>
                </a:solidFill>
                <a:latin typeface="Segoe UI"/>
              </a:rPr>
              <a:t>•  Audiencia:</a:t>
            </a:r>
            <a:r>
              <a:rPr sz="1600">
                <a:solidFill>
                  <a:srgbClr val="4A4E6E"/>
                </a:solidFill>
                <a:latin typeface="Segoe UI"/>
              </a:rPr>
              <a:t>  equipo de gestión y toma de decisiones de StreamView.</a:t>
            </a:r>
          </a:p>
          <a:p>
            <a:pPr marL="200000" indent="-200000">
              <a:spcAft>
                <a:spcPts val="1300"/>
              </a:spcAft>
            </a:pPr>
            <a:r>
              <a:rPr sz="1600" b="1">
                <a:solidFill>
                  <a:srgbClr val="1C1F52"/>
                </a:solidFill>
                <a:latin typeface="Segoe UI"/>
              </a:rPr>
              <a:t>•  Propósito:</a:t>
            </a:r>
            <a:r>
              <a:rPr sz="1600">
                <a:solidFill>
                  <a:srgbClr val="4A4E6E"/>
                </a:solidFill>
                <a:latin typeface="Segoe UI"/>
              </a:rPr>
              <a:t>  comunicar los patrones de permanencia y cancelación para decidir dónde intervenir, no describir el negocio.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F4FE0"/>
                </a:solidFill>
                <a:latin typeface="Segoe UI"/>
              </a:rPr>
              <a:t>Qué consecuencias tuvo esto en el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Tasas y consumo por usuario,</a:t>
            </a:r>
            <a:r>
              <a:rPr sz="1400">
                <a:solidFill>
                  <a:srgbClr val="4A4E6E"/>
                </a:solidFill>
                <a:latin typeface="Segoe UI"/>
              </a:rPr>
              <a:t>  no conteos absolutos: son las unidades sobre las que la audiencia decide.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Cada título enuncia la conclusión,</a:t>
            </a:r>
            <a:r>
              <a:rPr sz="1400">
                <a:solidFill>
                  <a:srgbClr val="4A4E6E"/>
                </a:solidFill>
                <a:latin typeface="Segoe UI"/>
              </a:rPr>
              <a:t>  no la variable: la lectura empieza por el mensaje.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Un solo color de énfasis,</a:t>
            </a:r>
            <a:r>
              <a:rPr sz="1400">
                <a:solidFill>
                  <a:srgbClr val="4A4E6E"/>
                </a:solidFill>
                <a:latin typeface="Segoe UI"/>
              </a:rPr>
              <a:t>  reservado al elemento que exige una decisión.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Cada gráfico responde una pregunta accionable</a:t>
            </a:r>
            <a:r>
              <a:rPr sz="1400">
                <a:solidFill>
                  <a:srgbClr val="4A4E6E"/>
                </a:solidFill>
                <a:latin typeface="Segoe UI"/>
              </a:rPr>
              <a:t>  y se descarta lo que no la responde.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4949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3. FUENTES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Siete tablas integradas, cuatro con señal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F52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Tablas del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F52"/>
                </a:solidFill>
                <a:latin typeface="Segoe UI"/>
              </a:rPr>
              <a:t>1.500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F52"/>
                </a:solidFill>
                <a:latin typeface="Segoe UI"/>
              </a:rPr>
              <a:t>25.000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Reproducciones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1F52"/>
                </a:solidFill>
                <a:latin typeface="Segoe UI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Período de análisis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F4FE0"/>
                </a:solidFill>
                <a:latin typeface="Segoe UI"/>
              </a:rPr>
              <a:t>Integradas al análisis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usuarios</a:t>
            </a:r>
            <a:r>
              <a:rPr sz="1400">
                <a:solidFill>
                  <a:srgbClr val="4A4E6E"/>
                </a:solidFill>
                <a:latin typeface="Segoe UI"/>
              </a:rPr>
              <a:t>  · perfil y segmento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suscripciones</a:t>
            </a:r>
            <a:r>
              <a:rPr sz="1400">
                <a:solidFill>
                  <a:srgbClr val="4A4E6E"/>
                </a:solidFill>
                <a:latin typeface="Segoe UI"/>
              </a:rPr>
              <a:t>  · plan, estado y motivo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reproducciones</a:t>
            </a:r>
            <a:r>
              <a:rPr sz="1400">
                <a:solidFill>
                  <a:srgbClr val="4A4E6E"/>
                </a:solidFill>
                <a:latin typeface="Segoe UI"/>
              </a:rPr>
              <a:t>  · volumen y experiencia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contenidos</a:t>
            </a:r>
            <a:r>
              <a:rPr sz="1400">
                <a:solidFill>
                  <a:srgbClr val="4A4E6E"/>
                </a:solidFill>
                <a:latin typeface="Segoe UI"/>
              </a:rPr>
              <a:t>  · tipo y género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4E6E"/>
                </a:solidFill>
                <a:latin typeface="Segoe UI"/>
              </a:rPr>
              <a:t>Evaluadas y descartadas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40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dispositivos</a:t>
            </a:r>
            <a:r>
              <a:rPr sz="1400">
                <a:solidFill>
                  <a:srgbClr val="4A4E6E"/>
                </a:solidFill>
                <a:latin typeface="Segoe UI"/>
              </a:rPr>
              <a:t>  · 1,68 vs 1,61 por usuario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calificaciones</a:t>
            </a:r>
            <a:r>
              <a:rPr sz="1400">
                <a:solidFill>
                  <a:srgbClr val="4A4E6E"/>
                </a:solidFill>
                <a:latin typeface="Segoe UI"/>
              </a:rPr>
              <a:t>  · 3,97 vs 3,95 de puntuación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interacciones</a:t>
            </a:r>
            <a:r>
              <a:rPr sz="1400">
                <a:solidFill>
                  <a:srgbClr val="4A4E6E"/>
                </a:solidFill>
                <a:latin typeface="Segoe UI"/>
              </a:rPr>
              <a:t>  · 4,96 vs 4,96 por usuario</a:t>
            </a:r>
          </a:p>
          <a:p>
            <a:pPr marL="200000" indent="-200000">
              <a:spcAft>
                <a:spcPts val="1300"/>
              </a:spcAft>
            </a:pPr>
            <a:r>
              <a:rPr sz="1400" b="1">
                <a:solidFill>
                  <a:srgbClr val="1C1F52"/>
                </a:solidFill>
                <a:latin typeface="Segoe UI"/>
              </a:rPr>
              <a:t>•  Sin diferencia entre grupos:</a:t>
            </a:r>
            <a:r>
              <a:rPr sz="1400">
                <a:solidFill>
                  <a:srgbClr val="4A4E6E"/>
                </a:solidFill>
                <a:latin typeface="Segoe UI"/>
              </a:rPr>
              <a:t>  graficarlas sugeriría un patrón inexistente.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1047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4 y 5. EDA Y 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El problema es cuánto ven, no qué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C23B3B"/>
                </a:solidFill>
                <a:latin typeface="Segoe UI"/>
              </a:rPr>
              <a:t>44,1%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Cancelación del plan Básico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3F4FE0"/>
                </a:solidFill>
                <a:latin typeface="Segoe UI"/>
              </a:rPr>
              <a:t>+58%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Consumo de los activos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A4E6E"/>
                </a:solidFill>
                <a:latin typeface="Segoe UI"/>
              </a:rPr>
              <a:t>71,5%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Completado en ambos grupos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96596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A4E6E"/>
                </a:solidFill>
                <a:latin typeface="Segoe UI"/>
              </a:rPr>
              <a:t>8,25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32888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A4E6E"/>
                </a:solidFill>
                <a:latin typeface="Segoe UI"/>
              </a:rPr>
              <a:t>Buffering en ambos grupos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500" b="1">
                <a:solidFill>
                  <a:srgbClr val="1C1F52"/>
                </a:solidFill>
                <a:latin typeface="Segoe UI"/>
              </a:rPr>
              <a:t>•  La cancelación está concentrada:</a:t>
            </a:r>
            <a:r>
              <a:rPr sz="1500">
                <a:solidFill>
                  <a:srgbClr val="4A4E6E"/>
                </a:solidFill>
                <a:latin typeface="Segoe UI"/>
              </a:rPr>
              <a:t>  44,1% en Básico frente a 12,0% en Premium.</a:t>
            </a:r>
          </a:p>
          <a:p>
            <a:pPr marL="200000" indent="-200000">
              <a:spcAft>
                <a:spcPts val="1300"/>
              </a:spcAft>
            </a:pPr>
            <a:r>
              <a:rPr sz="1500" b="1">
                <a:solidFill>
                  <a:srgbClr val="1C1F52"/>
                </a:solidFill>
                <a:latin typeface="Segoe UI"/>
              </a:rPr>
              <a:t>•  Quien cancela consumía menos:</a:t>
            </a:r>
            <a:r>
              <a:rPr sz="1500">
                <a:solidFill>
                  <a:srgbClr val="4A4E6E"/>
                </a:solidFill>
                <a:latin typeface="Segoe UI"/>
              </a:rPr>
              <a:t>  58% menos reproducciones y 60% menos minutos por usuario.</a:t>
            </a:r>
          </a:p>
          <a:p>
            <a:pPr marL="200000" indent="-200000">
              <a:spcAft>
                <a:spcPts val="1300"/>
              </a:spcAft>
            </a:pPr>
            <a:r>
              <a:rPr sz="1500" b="1">
                <a:solidFill>
                  <a:srgbClr val="1C1F52"/>
                </a:solidFill>
                <a:latin typeface="Segoe UI"/>
              </a:rPr>
              <a:t>•  No es un problema de contenido:</a:t>
            </a:r>
            <a:r>
              <a:rPr sz="1500">
                <a:solidFill>
                  <a:srgbClr val="4A4E6E"/>
                </a:solidFill>
                <a:latin typeface="Segoe UI"/>
              </a:rPr>
              <a:t>  el porcentaje completado difiere en 0,07 puntos entre grupos.</a:t>
            </a:r>
          </a:p>
          <a:p>
            <a:pPr marL="200000" indent="-200000">
              <a:spcAft>
                <a:spcPts val="1300"/>
              </a:spcAft>
            </a:pPr>
            <a:r>
              <a:rPr sz="1500" b="1">
                <a:solidFill>
                  <a:srgbClr val="1C1F52"/>
                </a:solidFill>
                <a:latin typeface="Segoe UI"/>
              </a:rPr>
              <a:t>•  No es un problema técnico:</a:t>
            </a:r>
            <a:r>
              <a:rPr sz="1500">
                <a:solidFill>
                  <a:srgbClr val="4A4E6E"/>
                </a:solidFill>
                <a:latin typeface="Segoe UI"/>
              </a:rPr>
              <a:t>  buffering y dispositivos equivalentes; solo la calidad de video varía.</a:t>
            </a:r>
          </a:p>
          <a:p>
            <a:pPr marL="200000" indent="-200000">
              <a:spcAft>
                <a:spcPts val="1300"/>
              </a:spcAft>
            </a:pPr>
            <a:r>
              <a:rPr sz="1500" b="1">
                <a:solidFill>
                  <a:srgbClr val="1C1F52"/>
                </a:solidFill>
                <a:latin typeface="Segoe UI"/>
              </a:rPr>
              <a:t>•  El usuario lo confirma:</a:t>
            </a:r>
            <a:r>
              <a:rPr sz="1500">
                <a:solidFill>
                  <a:srgbClr val="4A4E6E"/>
                </a:solidFill>
                <a:latin typeface="Segoe UI"/>
              </a:rPr>
              <a:t>  “poco uso” es el motivo de cancelación más declarado.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78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6. SELECCIÓN DE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Dónde se concentra el riesgo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1_cancelac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523" y="1874519"/>
            <a:ext cx="7298649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2578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4E6E"/>
                </a:solidFill>
                <a:latin typeface="Segoe UI"/>
              </a:rPr>
              <a:t>Barras horizontales ordenadas con línea de referencia. Se descarta el circular: comparar longitudes sobre una línea base común es más preciso que comparar ángulos. El color marca solo el plan que exige una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954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6. SELECCIÓN DE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Por qué ocurre: la brecha de consumo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2_brecha_con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85" y="1874519"/>
            <a:ext cx="8005324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2578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4E6E"/>
                </a:solidFill>
                <a:latin typeface="Segoe UI"/>
              </a:rPr>
              <a:t>Dos paneles porque las métricas tienen unidades distintas: compartir un eje distorsionaría la comparación. La proximidad agrupa cada par y el color mantiene la identidad de cada estado sin repetir la leyenda.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5469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6. SELECCIÓN DE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Lo que declara el usuario confirma el dato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5_mo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996" y="1874519"/>
            <a:ext cx="7447702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2578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A4E6E"/>
                </a:solidFill>
                <a:latin typeface="Segoe UI"/>
              </a:rPr>
              <a:t>Seis categorías nominales con etiquetas largas: barras horizontales ordenadas por frecuencia. Se destacan solo los dos motivos accionables, que son los que conectan con la brecha de consumo y con el plan más económico.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4532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7.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KPIs, diagnóstico y acción en una sola vista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684" y="1664208"/>
            <a:ext cx="6196327" cy="4224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9846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A4E6E"/>
                </a:solidFill>
                <a:latin typeface="Segoe UI"/>
              </a:rPr>
              <a:t>Titular y KPIs → dónde y por qué → detalle y acción.  Parametrizado por país, segmento y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275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8. NARRATIVA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Contexto → conflicto → resolución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ar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54" y="1828800"/>
            <a:ext cx="8588586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692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4A4E6E"/>
                </a:solidFill>
                <a:latin typeface="Segoe UI"/>
              </a:rPr>
              <a:t>El segundo acto reutiliza a propósito la forma del primer gráfico: la audiencia ya sabe leerla y puede concentrarse en el argumento. El cierre abandona los porcentajes y vuelve a suscripciones y dólares, que es lo que la audiencia gestiona.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38131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2F85"/>
            </a:gs>
            <a:gs pos="100000">
              <a:srgbClr val="4B58E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Card"/>
          <p:cNvSpPr/>
          <p:nvPr/>
        </p:nvSpPr>
        <p:spPr>
          <a:xfrm>
            <a:off x="203200" y="177800"/>
            <a:ext cx="11785600" cy="6502400"/>
          </a:xfrm>
          <a:prstGeom prst="roundRect">
            <a:avLst>
              <a:gd name="adj" fmla="val 3500"/>
            </a:avLst>
          </a:prstGeom>
          <a:solidFill>
            <a:srgbClr val="F1F2F9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1" name="Deco 902"/>
          <p:cNvSpPr/>
          <p:nvPr/>
        </p:nvSpPr>
        <p:spPr>
          <a:xfrm>
            <a:off x="-508000" y="-203200"/>
            <a:ext cx="14224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2" name="Deco 903"/>
          <p:cNvSpPr/>
          <p:nvPr/>
        </p:nvSpPr>
        <p:spPr>
          <a:xfrm>
            <a:off x="11176000" y="-203200"/>
            <a:ext cx="1524000" cy="5334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468FF"/>
              </a:gs>
              <a:gs pos="100000">
                <a:srgbClr val="3F4CC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3" name="Deco 904"/>
          <p:cNvSpPr/>
          <p:nvPr/>
        </p:nvSpPr>
        <p:spPr>
          <a:xfrm>
            <a:off x="-635000" y="6451600"/>
            <a:ext cx="1219200" cy="635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064F5"/>
              </a:gs>
              <a:gs pos="100000">
                <a:srgbClr val="3E4BC4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4" name="Deco 905"/>
          <p:cNvSpPr/>
          <p:nvPr/>
        </p:nvSpPr>
        <p:spPr>
          <a:xfrm>
            <a:off x="11658600" y="5715000"/>
            <a:ext cx="889000" cy="1397000"/>
          </a:xfrm>
          <a:prstGeom prst="parallelogram">
            <a:avLst>
              <a:gd name="adj" fmla="val 30000"/>
            </a:avLst>
          </a:prstGeom>
          <a:gradFill>
            <a:gsLst>
              <a:gs pos="0">
                <a:srgbClr val="5A6DFF"/>
              </a:gs>
              <a:gs pos="100000">
                <a:srgbClr val="4655D8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4FE0"/>
                </a:solidFill>
                <a:latin typeface="Segoe UI"/>
              </a:rPr>
              <a:t>9. 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C1F52"/>
                </a:solidFill>
                <a:latin typeface="Segoe UI"/>
              </a:rPr>
              <a:t>La cancelación se anticipa, no se lamenta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05840" cy="44450"/>
          </a:xfrm>
          <a:prstGeom prst="rect">
            <a:avLst/>
          </a:prstGeom>
          <a:solidFill>
            <a:srgbClr val="54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F4FE0"/>
                </a:solidFill>
                <a:latin typeface="Segoe UI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Fenómeno concentrado,</a:t>
            </a:r>
            <a:r>
              <a:rPr sz="1350">
                <a:solidFill>
                  <a:srgbClr val="4A4E6E"/>
                </a:solidFill>
                <a:latin typeface="Segoe UI"/>
              </a:rPr>
              <a:t>  no transversal: el rango va de 12,0% a 44,1%.</a:t>
            </a:r>
          </a:p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El predictor es el uso,</a:t>
            </a:r>
            <a:r>
              <a:rPr sz="1350">
                <a:solidFill>
                  <a:srgbClr val="4A4E6E"/>
                </a:solidFill>
                <a:latin typeface="Segoe UI"/>
              </a:rPr>
              <a:t>  no la preferencia de contenido.</a:t>
            </a:r>
          </a:p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No hay problema de experiencia:</a:t>
            </a:r>
            <a:r>
              <a:rPr sz="1350">
                <a:solidFill>
                  <a:srgbClr val="4A4E6E"/>
                </a:solidFill>
                <a:latin typeface="Segoe UI"/>
              </a:rPr>
              <a:t>  mismo completado y mismo buffering.</a:t>
            </a:r>
          </a:p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Existe un marcador anticipado:</a:t>
            </a:r>
            <a:r>
              <a:rPr sz="1350">
                <a:solidFill>
                  <a:srgbClr val="4A4E6E"/>
                </a:solidFill>
                <a:latin typeface="Segoe UI"/>
              </a:rPr>
              <a:t>  la ausencia de renovación automática.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F4FE0"/>
                </a:solidFill>
                <a:latin typeface="Segoe UI"/>
              </a:rPr>
              <a:t>Recomendaciones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317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Reactivar el plan Básico</a:t>
            </a:r>
            <a:r>
              <a:rPr sz="1350">
                <a:solidFill>
                  <a:srgbClr val="4A4E6E"/>
                </a:solidFill>
                <a:latin typeface="Segoe UI"/>
              </a:rPr>
              <a:t>  con bajo consumo antes del cierre de facturación.</a:t>
            </a:r>
          </a:p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Definir un umbral de riesgo</a:t>
            </a:r>
            <a:r>
              <a:rPr sz="1350">
                <a:solidFill>
                  <a:srgbClr val="4A4E6E"/>
                </a:solidFill>
                <a:latin typeface="Segoe UI"/>
              </a:rPr>
              <a:t>  de 12 reproducciones al mes y monitorearlo.</a:t>
            </a:r>
          </a:p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Priorizar recomendaciones personalizadas</a:t>
            </a:r>
            <a:r>
              <a:rPr sz="1350">
                <a:solidFill>
                  <a:srgbClr val="4A4E6E"/>
                </a:solidFill>
                <a:latin typeface="Segoe UI"/>
              </a:rPr>
              <a:t>  por sobre ampliar el catálogo.</a:t>
            </a:r>
          </a:p>
          <a:p>
            <a:pPr marL="200000" indent="-200000">
              <a:spcAft>
                <a:spcPts val="1300"/>
              </a:spcAft>
            </a:pPr>
            <a:r>
              <a:rPr sz="1350" b="1">
                <a:solidFill>
                  <a:srgbClr val="1C1F52"/>
                </a:solidFill>
                <a:latin typeface="Segoe UI"/>
              </a:rPr>
              <a:t>•  Incentivar la renovación automática</a:t>
            </a:r>
            <a:r>
              <a:rPr sz="1350">
                <a:solidFill>
                  <a:srgbClr val="4A4E6E"/>
                </a:solidFill>
                <a:latin typeface="Segoe UI"/>
              </a:rPr>
              <a:t>  donde más falta: el plan Básico.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27600"/>
            <a:ext cx="10744200" cy="1143000"/>
          </a:xfrm>
          <a:prstGeom prst="rect">
            <a:avLst/>
          </a:prstGeom>
          <a:solidFill>
            <a:srgbClr val="1C1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10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9B3FF"/>
                </a:solidFill>
                <a:latin typeface="Segoe UI"/>
              </a:rPr>
              <a:t>Meta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30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Llevar el plan Básico del 44,1% al 20,7% de Estándar: 130 suscripciones retenidas y US$ 10.926 anuales, sin invertir en catálogo ni en infraestructura.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ADY1104 Visualización de Datos  ·  EP1  ·  StreamView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4A4E6E"/>
                </a:solidFill>
                <a:latin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5634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52D03A-98BA-420C-9263-FDF489B7043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5bcf1f7-9bed-476f-9865-169e9fb3428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935</Words>
  <Application>Microsoft Office PowerPoint</Application>
  <PresentationFormat>Panorámica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RICARDO IGNACIO ILLANES SEGURA</cp:lastModifiedBy>
  <cp:revision>2</cp:revision>
  <dcterms:created xsi:type="dcterms:W3CDTF">2013-01-27T09:14:16Z</dcterms:created>
  <dcterms:modified xsi:type="dcterms:W3CDTF">2026-09-26T01:08:40Z</dcterms:modified>
  <cp:category/>
</cp:coreProperties>
</file>